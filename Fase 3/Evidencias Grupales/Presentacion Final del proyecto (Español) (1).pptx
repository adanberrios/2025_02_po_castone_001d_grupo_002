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11309350" cx="20104100"/>
  <p:notesSz cx="20104100" cy="113093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u7wol0IV4QDbuggmqM53fsy4Ue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RODRIGO . CUBILLOS PENALOZ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A40D89-82B0-417C-9D0D-7BF96E38EC5E}">
  <a:tblStyle styleId="{C0A40D89-82B0-417C-9D0D-7BF96E38EC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customschemas.google.com/relationships/presentationmetadata" Target="meta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30T01:03:03.308">
    <p:pos x="6889" y="1707"/>
    <p:text>De esta forma, se elimina la dependencia de hojas de cálculo y comunicaciones informales, se estandariza el flujo de trabajo, se mejora la trazabilidad en tiempo real y se optimiza la coordinación entre choferes, supervisores y mecánicos, aumentando la eficiencia operativa y reduciendo errores.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4ZkkRs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11-30T19:24:49.014">
    <p:pos x="2668" y="1996"/>
    <p:text>El proyecto demuestra que la digitalización, cuando se basa en un análisis preciso de las necesidades y en una correcta planificación, es capaz de transformar procesos manuales en soluciones escalables y de alto impacto. En definitiva, la iniciativa valida que incorporar tecnologías adecuadas no solo optimiza el trabajo diario, sino que también entrega información valiosa para la toma de decisiones y la mejora continua a nivel organizacional.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w4_PVHY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7320215e8_1_35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17320215e8_1_3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7320215e8_1_14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17320215e8_1_141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17320215e8_1_141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3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7320215e8_1_66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17320215e8_1_66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17320215e8_1_66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7320215e8_1_60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17320215e8_1_6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17320215e8_1_60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7320215e8_1_76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17320215e8_1_76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g317320215e8_1_76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6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9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7320215e8_1_117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17320215e8_1_117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g317320215e8_1_117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2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b9c9e4826_0_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g3ab9c9e4826_0_0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b9c9e4826_0_7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ab9c9e4826_0_7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b9c9e4826_0_13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g3ab9c9e4826_0_13:notes"/>
          <p:cNvSpPr/>
          <p:nvPr>
            <p:ph idx="2" type="sldImg"/>
          </p:nvPr>
        </p:nvSpPr>
        <p:spPr>
          <a:xfrm>
            <a:off x="6659563" y="1414463"/>
            <a:ext cx="6785100" cy="38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8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17320215e8_1_110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17320215e8_1_110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317320215e8_1_110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4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17320215e8_1_12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17320215e8_1_125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17320215e8_1_125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5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5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17320215e8_1_133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17320215e8_1_133:notes"/>
          <p:cNvSpPr txBox="1"/>
          <p:nvPr>
            <p:ph idx="1" type="body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g317320215e8_1_133:notes"/>
          <p:cNvSpPr txBox="1"/>
          <p:nvPr>
            <p:ph idx="12" type="sldNum"/>
          </p:nvPr>
        </p:nvSpPr>
        <p:spPr>
          <a:xfrm>
            <a:off x="11387138" y="10742613"/>
            <a:ext cx="87123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:notes"/>
          <p:cNvSpPr txBox="1"/>
          <p:nvPr>
            <p:ph idx="1" type="body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11:notes"/>
          <p:cNvSpPr/>
          <p:nvPr>
            <p:ph idx="2" type="sldImg"/>
          </p:nvPr>
        </p:nvSpPr>
        <p:spPr>
          <a:xfrm>
            <a:off x="6659563" y="1414463"/>
            <a:ext cx="6784975" cy="38163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8740" y="-789172"/>
            <a:ext cx="20129562" cy="12098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3"/>
          <p:cNvPicPr preferRelativeResize="0"/>
          <p:nvPr/>
        </p:nvPicPr>
        <p:blipFill rotWithShape="1">
          <a:blip r:embed="rId3">
            <a:alphaModFix/>
          </a:blip>
          <a:srcRect b="365" l="1960" r="2315" t="38419"/>
          <a:stretch/>
        </p:blipFill>
        <p:spPr>
          <a:xfrm>
            <a:off x="0" y="0"/>
            <a:ext cx="20104099" cy="11309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13"/>
          <p:cNvGrpSpPr/>
          <p:nvPr/>
        </p:nvGrpSpPr>
        <p:grpSpPr>
          <a:xfrm>
            <a:off x="8375650" y="10531475"/>
            <a:ext cx="3894979" cy="335915"/>
            <a:chOff x="8592670" y="10723202"/>
            <a:chExt cx="3894979" cy="335915"/>
          </a:xfrm>
        </p:grpSpPr>
        <p:sp>
          <p:nvSpPr>
            <p:cNvPr id="19" name="Google Shape;19;p13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3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3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3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3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3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3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3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3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p13"/>
          <p:cNvSpPr/>
          <p:nvPr/>
        </p:nvSpPr>
        <p:spPr>
          <a:xfrm>
            <a:off x="5092767" y="8274010"/>
            <a:ext cx="10694670" cy="53340"/>
          </a:xfrm>
          <a:custGeom>
            <a:rect b="b" l="l" r="r" t="t"/>
            <a:pathLst>
              <a:path extrusionOk="0" h="53340" w="10694669">
                <a:moveTo>
                  <a:pt x="10667601" y="0"/>
                </a:moveTo>
                <a:lnTo>
                  <a:pt x="26606" y="0"/>
                </a:lnTo>
                <a:lnTo>
                  <a:pt x="16264" y="2097"/>
                </a:lnTo>
                <a:lnTo>
                  <a:pt x="7806" y="7809"/>
                </a:lnTo>
                <a:lnTo>
                  <a:pt x="2095" y="16269"/>
                </a:lnTo>
                <a:lnTo>
                  <a:pt x="0" y="26606"/>
                </a:lnTo>
                <a:lnTo>
                  <a:pt x="2095" y="36942"/>
                </a:lnTo>
                <a:lnTo>
                  <a:pt x="7806" y="45397"/>
                </a:lnTo>
                <a:lnTo>
                  <a:pt x="16264" y="51106"/>
                </a:lnTo>
                <a:lnTo>
                  <a:pt x="26606" y="53202"/>
                </a:lnTo>
                <a:lnTo>
                  <a:pt x="10667601" y="53202"/>
                </a:lnTo>
                <a:lnTo>
                  <a:pt x="10677937" y="51106"/>
                </a:lnTo>
                <a:lnTo>
                  <a:pt x="10686393" y="45397"/>
                </a:lnTo>
                <a:lnTo>
                  <a:pt x="10692102" y="36942"/>
                </a:lnTo>
                <a:lnTo>
                  <a:pt x="10694197" y="26606"/>
                </a:lnTo>
                <a:lnTo>
                  <a:pt x="10692102" y="16269"/>
                </a:lnTo>
                <a:lnTo>
                  <a:pt x="10686393" y="7809"/>
                </a:lnTo>
                <a:lnTo>
                  <a:pt x="10677937" y="2097"/>
                </a:lnTo>
                <a:lnTo>
                  <a:pt x="1066760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3"/>
          <p:cNvSpPr/>
          <p:nvPr/>
        </p:nvSpPr>
        <p:spPr>
          <a:xfrm>
            <a:off x="5092767" y="7228339"/>
            <a:ext cx="10694670" cy="1045671"/>
          </a:xfrm>
          <a:custGeom>
            <a:rect b="b" l="l" r="r" t="t"/>
            <a:pathLst>
              <a:path extrusionOk="0" h="1025525" w="10694669">
                <a:moveTo>
                  <a:pt x="10694197" y="0"/>
                </a:moveTo>
                <a:lnTo>
                  <a:pt x="0" y="0"/>
                </a:lnTo>
                <a:lnTo>
                  <a:pt x="0" y="1025330"/>
                </a:lnTo>
                <a:lnTo>
                  <a:pt x="10694197" y="1025330"/>
                </a:lnTo>
                <a:lnTo>
                  <a:pt x="10694197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5138402" y="7307097"/>
            <a:ext cx="1064903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5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2" type="body"/>
          </p:nvPr>
        </p:nvSpPr>
        <p:spPr>
          <a:xfrm>
            <a:off x="4718050" y="6152227"/>
            <a:ext cx="114299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3" type="body"/>
          </p:nvPr>
        </p:nvSpPr>
        <p:spPr>
          <a:xfrm>
            <a:off x="5092767" y="8483560"/>
            <a:ext cx="1069498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" name="Google Shape;3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9377" y="8918485"/>
            <a:ext cx="5904958" cy="1460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/>
          <p:nvPr/>
        </p:nvSpPr>
        <p:spPr>
          <a:xfrm>
            <a:off x="1" y="828729"/>
            <a:ext cx="4946650" cy="116834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5"/>
          <p:cNvSpPr/>
          <p:nvPr/>
        </p:nvSpPr>
        <p:spPr>
          <a:xfrm>
            <a:off x="4998572" y="828729"/>
            <a:ext cx="152400" cy="1168346"/>
          </a:xfrm>
          <a:custGeom>
            <a:rect b="b" l="l" r="r" t="t"/>
            <a:pathLst>
              <a:path extrusionOk="0" h="6827520" w="53339">
                <a:moveTo>
                  <a:pt x="26606" y="0"/>
                </a:moveTo>
                <a:lnTo>
                  <a:pt x="16269" y="2095"/>
                </a:lnTo>
                <a:lnTo>
                  <a:pt x="7809" y="7806"/>
                </a:lnTo>
                <a:lnTo>
                  <a:pt x="2097" y="16264"/>
                </a:lnTo>
                <a:lnTo>
                  <a:pt x="0" y="26606"/>
                </a:lnTo>
                <a:lnTo>
                  <a:pt x="0" y="6800368"/>
                </a:lnTo>
                <a:lnTo>
                  <a:pt x="2097" y="6810704"/>
                </a:lnTo>
                <a:lnTo>
                  <a:pt x="7809" y="6819160"/>
                </a:lnTo>
                <a:lnTo>
                  <a:pt x="16269" y="6824869"/>
                </a:lnTo>
                <a:lnTo>
                  <a:pt x="26606" y="6826964"/>
                </a:lnTo>
                <a:lnTo>
                  <a:pt x="36943" y="6824869"/>
                </a:lnTo>
                <a:lnTo>
                  <a:pt x="45403" y="6819160"/>
                </a:lnTo>
                <a:lnTo>
                  <a:pt x="51115" y="6810704"/>
                </a:lnTo>
                <a:lnTo>
                  <a:pt x="53213" y="6800368"/>
                </a:lnTo>
                <a:lnTo>
                  <a:pt x="53213" y="26606"/>
                </a:lnTo>
                <a:lnTo>
                  <a:pt x="51115" y="16264"/>
                </a:lnTo>
                <a:lnTo>
                  <a:pt x="45403" y="7806"/>
                </a:lnTo>
                <a:lnTo>
                  <a:pt x="36943" y="2095"/>
                </a:lnTo>
                <a:lnTo>
                  <a:pt x="26606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574040" y="1258411"/>
            <a:ext cx="43434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2" type="body"/>
          </p:nvPr>
        </p:nvSpPr>
        <p:spPr>
          <a:xfrm>
            <a:off x="574675" y="2911475"/>
            <a:ext cx="4343400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" name="Google Shape;39;p15"/>
          <p:cNvGrpSpPr/>
          <p:nvPr/>
        </p:nvGrpSpPr>
        <p:grpSpPr>
          <a:xfrm>
            <a:off x="11728450" y="10226675"/>
            <a:ext cx="7874883" cy="697591"/>
            <a:chOff x="6622225" y="6259219"/>
            <a:chExt cx="5372103" cy="475884"/>
          </a:xfrm>
        </p:grpSpPr>
        <p:grpSp>
          <p:nvGrpSpPr>
            <p:cNvPr id="40" name="Google Shape;40;p15"/>
            <p:cNvGrpSpPr/>
            <p:nvPr/>
          </p:nvGrpSpPr>
          <p:grpSpPr>
            <a:xfrm>
              <a:off x="6622225" y="6411950"/>
              <a:ext cx="2602283" cy="224429"/>
              <a:chOff x="8592670" y="10723202"/>
              <a:chExt cx="3894979" cy="335915"/>
            </a:xfrm>
          </p:grpSpPr>
          <p:sp>
            <p:nvSpPr>
              <p:cNvPr id="41" name="Google Shape;41;p15"/>
              <p:cNvSpPr/>
              <p:nvPr/>
            </p:nvSpPr>
            <p:spPr>
              <a:xfrm>
                <a:off x="8592670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7B408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5"/>
              <p:cNvSpPr/>
              <p:nvPr/>
            </p:nvSpPr>
            <p:spPr>
              <a:xfrm>
                <a:off x="9037546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D6843D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5"/>
              <p:cNvSpPr/>
              <p:nvPr/>
            </p:nvSpPr>
            <p:spPr>
              <a:xfrm>
                <a:off x="9482433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BD094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5"/>
              <p:cNvSpPr/>
              <p:nvPr/>
            </p:nvSpPr>
            <p:spPr>
              <a:xfrm>
                <a:off x="9927320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BAC52E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5"/>
              <p:cNvSpPr/>
              <p:nvPr/>
            </p:nvSpPr>
            <p:spPr>
              <a:xfrm>
                <a:off x="10372207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92929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5"/>
              <p:cNvSpPr/>
              <p:nvPr/>
            </p:nvSpPr>
            <p:spPr>
              <a:xfrm>
                <a:off x="10817084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2C3E8B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5"/>
              <p:cNvSpPr/>
              <p:nvPr/>
            </p:nvSpPr>
            <p:spPr>
              <a:xfrm>
                <a:off x="11261981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2C914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5"/>
              <p:cNvSpPr/>
              <p:nvPr/>
            </p:nvSpPr>
            <p:spPr>
              <a:xfrm>
                <a:off x="11706858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44A6B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5"/>
              <p:cNvSpPr/>
              <p:nvPr/>
            </p:nvSpPr>
            <p:spPr>
              <a:xfrm>
                <a:off x="12151734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35A4C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50" name="Google Shape;50;p1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435812" y="6259219"/>
              <a:ext cx="2558516" cy="47588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14603006" y="1768475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4"/>
          <p:cNvSpPr/>
          <p:nvPr/>
        </p:nvSpPr>
        <p:spPr>
          <a:xfrm>
            <a:off x="10415337" y="1768476"/>
            <a:ext cx="3392804" cy="7616568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4"/>
          <p:cNvSpPr/>
          <p:nvPr/>
        </p:nvSpPr>
        <p:spPr>
          <a:xfrm>
            <a:off x="6347214" y="1813303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2235659" y="1820288"/>
            <a:ext cx="3392804" cy="7564755"/>
          </a:xfrm>
          <a:custGeom>
            <a:rect b="b" l="l" r="r" t="t"/>
            <a:pathLst>
              <a:path extrusionOk="0" h="7564755" w="3392805">
                <a:moveTo>
                  <a:pt x="3392671" y="0"/>
                </a:moveTo>
                <a:lnTo>
                  <a:pt x="0" y="0"/>
                </a:lnTo>
                <a:lnTo>
                  <a:pt x="0" y="7564701"/>
                </a:lnTo>
                <a:lnTo>
                  <a:pt x="3392671" y="7564701"/>
                </a:lnTo>
                <a:lnTo>
                  <a:pt x="339267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432050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2432050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3" type="body"/>
          </p:nvPr>
        </p:nvSpPr>
        <p:spPr>
          <a:xfrm>
            <a:off x="2520907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4" type="body"/>
          </p:nvPr>
        </p:nvSpPr>
        <p:spPr>
          <a:xfrm>
            <a:off x="6569873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5" type="body"/>
          </p:nvPr>
        </p:nvSpPr>
        <p:spPr>
          <a:xfrm>
            <a:off x="6569873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6" type="body"/>
          </p:nvPr>
        </p:nvSpPr>
        <p:spPr>
          <a:xfrm>
            <a:off x="6658730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7" type="body"/>
          </p:nvPr>
        </p:nvSpPr>
        <p:spPr>
          <a:xfrm>
            <a:off x="10642730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8" type="body"/>
          </p:nvPr>
        </p:nvSpPr>
        <p:spPr>
          <a:xfrm>
            <a:off x="10642730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9" type="body"/>
          </p:nvPr>
        </p:nvSpPr>
        <p:spPr>
          <a:xfrm>
            <a:off x="10731587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3" type="body"/>
          </p:nvPr>
        </p:nvSpPr>
        <p:spPr>
          <a:xfrm>
            <a:off x="14844104" y="4968875"/>
            <a:ext cx="300529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4" type="body"/>
          </p:nvPr>
        </p:nvSpPr>
        <p:spPr>
          <a:xfrm>
            <a:off x="14844104" y="2200396"/>
            <a:ext cx="295517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5" type="body"/>
          </p:nvPr>
        </p:nvSpPr>
        <p:spPr>
          <a:xfrm>
            <a:off x="14932961" y="5908547"/>
            <a:ext cx="291644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/>
          <p:nvPr/>
        </p:nvSpPr>
        <p:spPr>
          <a:xfrm>
            <a:off x="3579241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7667696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15995650" y="573087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11728450" y="5719885"/>
            <a:ext cx="751840" cy="60325"/>
          </a:xfrm>
          <a:custGeom>
            <a:rect b="b" l="l" r="r" t="t"/>
            <a:pathLst>
              <a:path extrusionOk="0" h="60325" w="751839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68"/>
                </a:lnTo>
                <a:lnTo>
                  <a:pt x="0" y="60096"/>
                </a:lnTo>
                <a:lnTo>
                  <a:pt x="751281" y="60096"/>
                </a:lnTo>
                <a:lnTo>
                  <a:pt x="751281" y="36068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" name="Google Shape;72;p14"/>
          <p:cNvGrpSpPr/>
          <p:nvPr/>
        </p:nvGrpSpPr>
        <p:grpSpPr>
          <a:xfrm>
            <a:off x="11728450" y="10226675"/>
            <a:ext cx="7874883" cy="697591"/>
            <a:chOff x="6622225" y="6259219"/>
            <a:chExt cx="5372103" cy="475884"/>
          </a:xfrm>
        </p:grpSpPr>
        <p:grpSp>
          <p:nvGrpSpPr>
            <p:cNvPr id="73" name="Google Shape;73;p14"/>
            <p:cNvGrpSpPr/>
            <p:nvPr/>
          </p:nvGrpSpPr>
          <p:grpSpPr>
            <a:xfrm>
              <a:off x="6622225" y="6411950"/>
              <a:ext cx="2602283" cy="224429"/>
              <a:chOff x="8592670" y="10723202"/>
              <a:chExt cx="3894979" cy="335915"/>
            </a:xfrm>
          </p:grpSpPr>
          <p:sp>
            <p:nvSpPr>
              <p:cNvPr id="74" name="Google Shape;74;p14"/>
              <p:cNvSpPr/>
              <p:nvPr/>
            </p:nvSpPr>
            <p:spPr>
              <a:xfrm>
                <a:off x="8592670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7B408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9037546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D6843D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4"/>
              <p:cNvSpPr/>
              <p:nvPr/>
            </p:nvSpPr>
            <p:spPr>
              <a:xfrm>
                <a:off x="9482433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BD094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9927320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BAC52E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4"/>
              <p:cNvSpPr/>
              <p:nvPr/>
            </p:nvSpPr>
            <p:spPr>
              <a:xfrm>
                <a:off x="10372207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92929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>
                <a:off x="10817084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2C3E8B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4"/>
              <p:cNvSpPr/>
              <p:nvPr/>
            </p:nvSpPr>
            <p:spPr>
              <a:xfrm>
                <a:off x="11261981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2C914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4"/>
              <p:cNvSpPr/>
              <p:nvPr/>
            </p:nvSpPr>
            <p:spPr>
              <a:xfrm>
                <a:off x="11706858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44A6B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4"/>
              <p:cNvSpPr/>
              <p:nvPr/>
            </p:nvSpPr>
            <p:spPr>
              <a:xfrm>
                <a:off x="12151734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35A4C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83" name="Google Shape;83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9435812" y="6259219"/>
              <a:ext cx="2558516" cy="47588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 rotWithShape="1">
          <a:blip r:embed="rId2">
            <a:alphaModFix/>
          </a:blip>
          <a:srcRect b="17230" l="0" r="0" t="23778"/>
          <a:stretch/>
        </p:blipFill>
        <p:spPr>
          <a:xfrm>
            <a:off x="-16927" y="-6290"/>
            <a:ext cx="20104100" cy="74121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6"/>
          <p:cNvGrpSpPr/>
          <p:nvPr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87" name="Google Shape;87;p16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6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7" name="Google Shape;97;p16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16"/>
          <p:cNvGrpSpPr/>
          <p:nvPr/>
        </p:nvGrpSpPr>
        <p:grpSpPr>
          <a:xfrm>
            <a:off x="11728450" y="10226675"/>
            <a:ext cx="7874883" cy="697591"/>
            <a:chOff x="6622225" y="6259219"/>
            <a:chExt cx="5372103" cy="475884"/>
          </a:xfrm>
        </p:grpSpPr>
        <p:grpSp>
          <p:nvGrpSpPr>
            <p:cNvPr id="100" name="Google Shape;100;p16"/>
            <p:cNvGrpSpPr/>
            <p:nvPr/>
          </p:nvGrpSpPr>
          <p:grpSpPr>
            <a:xfrm>
              <a:off x="6622225" y="6411950"/>
              <a:ext cx="2602283" cy="224429"/>
              <a:chOff x="8592670" y="10723202"/>
              <a:chExt cx="3894979" cy="335915"/>
            </a:xfrm>
          </p:grpSpPr>
          <p:sp>
            <p:nvSpPr>
              <p:cNvPr id="101" name="Google Shape;101;p16"/>
              <p:cNvSpPr/>
              <p:nvPr/>
            </p:nvSpPr>
            <p:spPr>
              <a:xfrm>
                <a:off x="8592670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7B408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9037546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D6843D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6"/>
              <p:cNvSpPr/>
              <p:nvPr/>
            </p:nvSpPr>
            <p:spPr>
              <a:xfrm>
                <a:off x="9482433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BD094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6"/>
              <p:cNvSpPr/>
              <p:nvPr/>
            </p:nvSpPr>
            <p:spPr>
              <a:xfrm>
                <a:off x="9927320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BAC52E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6"/>
              <p:cNvSpPr/>
              <p:nvPr/>
            </p:nvSpPr>
            <p:spPr>
              <a:xfrm>
                <a:off x="10372207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92929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6"/>
              <p:cNvSpPr/>
              <p:nvPr/>
            </p:nvSpPr>
            <p:spPr>
              <a:xfrm>
                <a:off x="10817084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2C3E8B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6"/>
              <p:cNvSpPr/>
              <p:nvPr/>
            </p:nvSpPr>
            <p:spPr>
              <a:xfrm>
                <a:off x="11261981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2C914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>
                <a:off x="11706858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44A6B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>
                <a:off x="12151734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35A4C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10" name="Google Shape;11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35812" y="6259219"/>
              <a:ext cx="2558516" cy="47588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/>
          <p:cNvPicPr preferRelativeResize="0"/>
          <p:nvPr/>
        </p:nvPicPr>
        <p:blipFill rotWithShape="1">
          <a:blip r:embed="rId2">
            <a:alphaModFix/>
          </a:blip>
          <a:srcRect b="20538" l="0" r="0" t="24342"/>
          <a:stretch/>
        </p:blipFill>
        <p:spPr>
          <a:xfrm>
            <a:off x="-6351" y="8332"/>
            <a:ext cx="20110451" cy="7391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17"/>
          <p:cNvGrpSpPr/>
          <p:nvPr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114" name="Google Shape;114;p17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7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4" name="Google Shape;124;p17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6" name="Google Shape;126;p17"/>
          <p:cNvGrpSpPr/>
          <p:nvPr/>
        </p:nvGrpSpPr>
        <p:grpSpPr>
          <a:xfrm>
            <a:off x="11728450" y="10226675"/>
            <a:ext cx="7874883" cy="697591"/>
            <a:chOff x="6622225" y="6259219"/>
            <a:chExt cx="5372103" cy="475884"/>
          </a:xfrm>
        </p:grpSpPr>
        <p:grpSp>
          <p:nvGrpSpPr>
            <p:cNvPr id="127" name="Google Shape;127;p17"/>
            <p:cNvGrpSpPr/>
            <p:nvPr/>
          </p:nvGrpSpPr>
          <p:grpSpPr>
            <a:xfrm>
              <a:off x="6622225" y="6411950"/>
              <a:ext cx="2602283" cy="224429"/>
              <a:chOff x="8592670" y="10723202"/>
              <a:chExt cx="3894979" cy="335915"/>
            </a:xfrm>
          </p:grpSpPr>
          <p:sp>
            <p:nvSpPr>
              <p:cNvPr id="128" name="Google Shape;128;p17"/>
              <p:cNvSpPr/>
              <p:nvPr/>
            </p:nvSpPr>
            <p:spPr>
              <a:xfrm>
                <a:off x="8592670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7B408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7"/>
              <p:cNvSpPr/>
              <p:nvPr/>
            </p:nvSpPr>
            <p:spPr>
              <a:xfrm>
                <a:off x="9037546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D6843D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>
                <a:off x="9482433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BD094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7"/>
              <p:cNvSpPr/>
              <p:nvPr/>
            </p:nvSpPr>
            <p:spPr>
              <a:xfrm>
                <a:off x="9927320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BAC52E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7"/>
              <p:cNvSpPr/>
              <p:nvPr/>
            </p:nvSpPr>
            <p:spPr>
              <a:xfrm>
                <a:off x="10372207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92929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7"/>
              <p:cNvSpPr/>
              <p:nvPr/>
            </p:nvSpPr>
            <p:spPr>
              <a:xfrm>
                <a:off x="10817084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2C3E8B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7"/>
              <p:cNvSpPr/>
              <p:nvPr/>
            </p:nvSpPr>
            <p:spPr>
              <a:xfrm>
                <a:off x="11261981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2C914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7"/>
              <p:cNvSpPr/>
              <p:nvPr/>
            </p:nvSpPr>
            <p:spPr>
              <a:xfrm>
                <a:off x="11706858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44A6B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7"/>
              <p:cNvSpPr/>
              <p:nvPr/>
            </p:nvSpPr>
            <p:spPr>
              <a:xfrm>
                <a:off x="12151734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35A4C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7" name="Google Shape;137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35812" y="6259219"/>
              <a:ext cx="2558516" cy="47588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/>
          <p:cNvPicPr preferRelativeResize="0"/>
          <p:nvPr/>
        </p:nvPicPr>
        <p:blipFill rotWithShape="1">
          <a:blip r:embed="rId2">
            <a:alphaModFix/>
          </a:blip>
          <a:srcRect b="32682" l="32" r="-30" t="8908"/>
          <a:stretch/>
        </p:blipFill>
        <p:spPr>
          <a:xfrm>
            <a:off x="-1" y="-7839"/>
            <a:ext cx="20104100" cy="73389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8"/>
          <p:cNvGrpSpPr/>
          <p:nvPr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141" name="Google Shape;141;p18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8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1" name="Google Shape;151;p18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8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3" name="Google Shape;153;p18"/>
          <p:cNvGrpSpPr/>
          <p:nvPr/>
        </p:nvGrpSpPr>
        <p:grpSpPr>
          <a:xfrm>
            <a:off x="11728450" y="10226675"/>
            <a:ext cx="7874883" cy="697591"/>
            <a:chOff x="6622225" y="6259219"/>
            <a:chExt cx="5372103" cy="475884"/>
          </a:xfrm>
        </p:grpSpPr>
        <p:grpSp>
          <p:nvGrpSpPr>
            <p:cNvPr id="154" name="Google Shape;154;p18"/>
            <p:cNvGrpSpPr/>
            <p:nvPr/>
          </p:nvGrpSpPr>
          <p:grpSpPr>
            <a:xfrm>
              <a:off x="6622225" y="6411950"/>
              <a:ext cx="2602283" cy="224429"/>
              <a:chOff x="8592670" y="10723202"/>
              <a:chExt cx="3894979" cy="335915"/>
            </a:xfrm>
          </p:grpSpPr>
          <p:sp>
            <p:nvSpPr>
              <p:cNvPr id="155" name="Google Shape;155;p18"/>
              <p:cNvSpPr/>
              <p:nvPr/>
            </p:nvSpPr>
            <p:spPr>
              <a:xfrm>
                <a:off x="8592670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7B408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8"/>
              <p:cNvSpPr/>
              <p:nvPr/>
            </p:nvSpPr>
            <p:spPr>
              <a:xfrm>
                <a:off x="9037546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D6843D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8"/>
              <p:cNvSpPr/>
              <p:nvPr/>
            </p:nvSpPr>
            <p:spPr>
              <a:xfrm>
                <a:off x="9482433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BD094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8"/>
              <p:cNvSpPr/>
              <p:nvPr/>
            </p:nvSpPr>
            <p:spPr>
              <a:xfrm>
                <a:off x="9927320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BAC52E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8"/>
              <p:cNvSpPr/>
              <p:nvPr/>
            </p:nvSpPr>
            <p:spPr>
              <a:xfrm>
                <a:off x="10372207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92929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8"/>
              <p:cNvSpPr/>
              <p:nvPr/>
            </p:nvSpPr>
            <p:spPr>
              <a:xfrm>
                <a:off x="10817084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2C3E8B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8"/>
              <p:cNvSpPr/>
              <p:nvPr/>
            </p:nvSpPr>
            <p:spPr>
              <a:xfrm>
                <a:off x="11261981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2C914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8"/>
              <p:cNvSpPr/>
              <p:nvPr/>
            </p:nvSpPr>
            <p:spPr>
              <a:xfrm>
                <a:off x="11706858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44A6B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8"/>
              <p:cNvSpPr/>
              <p:nvPr/>
            </p:nvSpPr>
            <p:spPr>
              <a:xfrm>
                <a:off x="12151734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35A4C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64" name="Google Shape;16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35812" y="6259219"/>
              <a:ext cx="2558516" cy="47588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9"/>
          <p:cNvGrpSpPr/>
          <p:nvPr/>
        </p:nvGrpSpPr>
        <p:grpSpPr>
          <a:xfrm>
            <a:off x="1278903" y="7528560"/>
            <a:ext cx="3894979" cy="335915"/>
            <a:chOff x="8592670" y="10723202"/>
            <a:chExt cx="3894979" cy="335915"/>
          </a:xfrm>
        </p:grpSpPr>
        <p:sp>
          <p:nvSpPr>
            <p:cNvPr id="167" name="Google Shape;167;p19"/>
            <p:cNvSpPr/>
            <p:nvPr/>
          </p:nvSpPr>
          <p:spPr>
            <a:xfrm>
              <a:off x="859267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7B408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9037546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D6843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9482433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D09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9927320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BAC5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10372207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1081708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2C3E8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11261981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591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591" y="335602"/>
                  </a:lnTo>
                  <a:lnTo>
                    <a:pt x="335591" y="0"/>
                  </a:lnTo>
                  <a:close/>
                </a:path>
              </a:pathLst>
            </a:custGeom>
            <a:solidFill>
              <a:srgbClr val="2C91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11706858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44A6B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12151734" y="10723202"/>
              <a:ext cx="335915" cy="335915"/>
            </a:xfrm>
            <a:custGeom>
              <a:rect b="b" l="l" r="r" t="t"/>
              <a:pathLst>
                <a:path extrusionOk="0" h="335915" w="335915">
                  <a:moveTo>
                    <a:pt x="335602" y="0"/>
                  </a:moveTo>
                  <a:lnTo>
                    <a:pt x="0" y="0"/>
                  </a:lnTo>
                  <a:lnTo>
                    <a:pt x="0" y="335602"/>
                  </a:lnTo>
                  <a:lnTo>
                    <a:pt x="335602" y="335602"/>
                  </a:lnTo>
                  <a:lnTo>
                    <a:pt x="335602" y="0"/>
                  </a:lnTo>
                  <a:close/>
                </a:path>
              </a:pathLst>
            </a:custGeom>
            <a:solidFill>
              <a:srgbClr val="35A4C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9"/>
          <p:cNvSpPr txBox="1"/>
          <p:nvPr>
            <p:ph type="title"/>
          </p:nvPr>
        </p:nvSpPr>
        <p:spPr>
          <a:xfrm>
            <a:off x="1321990" y="8235994"/>
            <a:ext cx="6048240" cy="2324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7" name="Google Shape;177;p19"/>
          <p:cNvCxnSpPr/>
          <p:nvPr/>
        </p:nvCxnSpPr>
        <p:spPr>
          <a:xfrm>
            <a:off x="7842250" y="7864475"/>
            <a:ext cx="0" cy="2696441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8314271" y="8170445"/>
            <a:ext cx="11193563" cy="190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0"/>
            <a:ext cx="20104101" cy="73390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19"/>
          <p:cNvGrpSpPr/>
          <p:nvPr/>
        </p:nvGrpSpPr>
        <p:grpSpPr>
          <a:xfrm>
            <a:off x="11728450" y="10226675"/>
            <a:ext cx="7874883" cy="697591"/>
            <a:chOff x="6622225" y="6259219"/>
            <a:chExt cx="5372103" cy="475884"/>
          </a:xfrm>
        </p:grpSpPr>
        <p:grpSp>
          <p:nvGrpSpPr>
            <p:cNvPr id="181" name="Google Shape;181;p19"/>
            <p:cNvGrpSpPr/>
            <p:nvPr/>
          </p:nvGrpSpPr>
          <p:grpSpPr>
            <a:xfrm>
              <a:off x="6622225" y="6411950"/>
              <a:ext cx="2602283" cy="224429"/>
              <a:chOff x="8592670" y="10723202"/>
              <a:chExt cx="3894979" cy="335915"/>
            </a:xfrm>
          </p:grpSpPr>
          <p:sp>
            <p:nvSpPr>
              <p:cNvPr id="182" name="Google Shape;182;p19"/>
              <p:cNvSpPr/>
              <p:nvPr/>
            </p:nvSpPr>
            <p:spPr>
              <a:xfrm>
                <a:off x="8592670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7B408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9"/>
              <p:cNvSpPr/>
              <p:nvPr/>
            </p:nvSpPr>
            <p:spPr>
              <a:xfrm>
                <a:off x="9037546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D6843D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9"/>
              <p:cNvSpPr/>
              <p:nvPr/>
            </p:nvSpPr>
            <p:spPr>
              <a:xfrm>
                <a:off x="9482433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BD094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9"/>
              <p:cNvSpPr/>
              <p:nvPr/>
            </p:nvSpPr>
            <p:spPr>
              <a:xfrm>
                <a:off x="9927320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BAC52E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9"/>
              <p:cNvSpPr/>
              <p:nvPr/>
            </p:nvSpPr>
            <p:spPr>
              <a:xfrm>
                <a:off x="10372207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929292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9"/>
              <p:cNvSpPr/>
              <p:nvPr/>
            </p:nvSpPr>
            <p:spPr>
              <a:xfrm>
                <a:off x="10817084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2C3E8B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9"/>
              <p:cNvSpPr/>
              <p:nvPr/>
            </p:nvSpPr>
            <p:spPr>
              <a:xfrm>
                <a:off x="11261981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591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591" y="335602"/>
                    </a:lnTo>
                    <a:lnTo>
                      <a:pt x="335591" y="0"/>
                    </a:lnTo>
                    <a:close/>
                  </a:path>
                </a:pathLst>
              </a:custGeom>
              <a:solidFill>
                <a:srgbClr val="2C9146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9"/>
              <p:cNvSpPr/>
              <p:nvPr/>
            </p:nvSpPr>
            <p:spPr>
              <a:xfrm>
                <a:off x="11706858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44A6B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9"/>
              <p:cNvSpPr/>
              <p:nvPr/>
            </p:nvSpPr>
            <p:spPr>
              <a:xfrm>
                <a:off x="12151734" y="10723202"/>
                <a:ext cx="335915" cy="335915"/>
              </a:xfrm>
              <a:custGeom>
                <a:rect b="b" l="l" r="r" t="t"/>
                <a:pathLst>
                  <a:path extrusionOk="0" h="335915" w="335915">
                    <a:moveTo>
                      <a:pt x="335602" y="0"/>
                    </a:moveTo>
                    <a:lnTo>
                      <a:pt x="0" y="0"/>
                    </a:lnTo>
                    <a:lnTo>
                      <a:pt x="0" y="335602"/>
                    </a:lnTo>
                    <a:lnTo>
                      <a:pt x="335602" y="335602"/>
                    </a:lnTo>
                    <a:lnTo>
                      <a:pt x="335602" y="0"/>
                    </a:lnTo>
                    <a:close/>
                  </a:path>
                </a:pathLst>
              </a:custGeom>
              <a:solidFill>
                <a:srgbClr val="35A4C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91" name="Google Shape;19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35812" y="6259219"/>
              <a:ext cx="2558516" cy="47588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80393" y="2411901"/>
            <a:ext cx="3956050" cy="1331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8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2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7320215e8_1_35"/>
          <p:cNvSpPr txBox="1"/>
          <p:nvPr/>
        </p:nvSpPr>
        <p:spPr>
          <a:xfrm>
            <a:off x="4998950" y="7258051"/>
            <a:ext cx="10774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s-CL" sz="5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PepsiCO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17320215e8_1_35"/>
          <p:cNvSpPr txBox="1"/>
          <p:nvPr/>
        </p:nvSpPr>
        <p:spPr>
          <a:xfrm>
            <a:off x="0" y="10385950"/>
            <a:ext cx="7243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CL" sz="2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Docente</a:t>
            </a:r>
            <a:endParaRPr b="0" i="0" sz="22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-CL" sz="22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FABIAN ALEJANDRO ALVAREZ MONTENEGRO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17320215e8_1_35"/>
          <p:cNvSpPr txBox="1"/>
          <p:nvPr/>
        </p:nvSpPr>
        <p:spPr>
          <a:xfrm>
            <a:off x="13525675" y="9600850"/>
            <a:ext cx="64566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L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</a:t>
            </a:r>
            <a:r>
              <a:rPr b="0" i="0" lang="es-CL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Fecha:</a:t>
            </a:r>
            <a:r>
              <a:rPr lang="es-CL" sz="24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01-12-25</a:t>
            </a:r>
            <a:r>
              <a:rPr b="0" i="0" lang="es-CL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endParaRPr b="0" i="0" sz="24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Escuela de Informática y Telecomunicaciones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317320215e8_1_35"/>
          <p:cNvPicPr preferRelativeResize="0"/>
          <p:nvPr/>
        </p:nvPicPr>
        <p:blipFill rotWithShape="1">
          <a:blip r:embed="rId3">
            <a:alphaModFix/>
          </a:blip>
          <a:srcRect b="36879" l="0" r="0" t="37729"/>
          <a:stretch/>
        </p:blipFill>
        <p:spPr>
          <a:xfrm>
            <a:off x="495300" y="-438150"/>
            <a:ext cx="4667250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17320215e8_1_141"/>
          <p:cNvSpPr txBox="1"/>
          <p:nvPr>
            <p:ph idx="1" type="body"/>
          </p:nvPr>
        </p:nvSpPr>
        <p:spPr>
          <a:xfrm>
            <a:off x="1061322" y="1156875"/>
            <a:ext cx="283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Introducción</a:t>
            </a:r>
            <a:endParaRPr sz="3600"/>
          </a:p>
        </p:txBody>
      </p:sp>
      <p:sp>
        <p:nvSpPr>
          <p:cNvPr id="206" name="Google Shape;206;g317320215e8_1_141"/>
          <p:cNvSpPr/>
          <p:nvPr/>
        </p:nvSpPr>
        <p:spPr>
          <a:xfrm>
            <a:off x="3732700" y="2869175"/>
            <a:ext cx="12638700" cy="557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64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2534">
                <a:solidFill>
                  <a:schemeClr val="dk1"/>
                </a:solidFill>
              </a:rPr>
              <a:t>PepsiCo es una empresa que gestiona una gran flota de camiones a nivel nacional últimamente a presentado problemas en proceso de la gestión de los mantenimientos.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"/>
          <p:cNvSpPr txBox="1"/>
          <p:nvPr>
            <p:ph idx="1" type="body"/>
          </p:nvPr>
        </p:nvSpPr>
        <p:spPr>
          <a:xfrm>
            <a:off x="0" y="839525"/>
            <a:ext cx="49470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600">
                <a:latin typeface="Calibri"/>
                <a:ea typeface="Calibri"/>
                <a:cs typeface="Calibri"/>
                <a:sym typeface="Calibri"/>
              </a:rPr>
              <a:t>Integrantes del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600">
                <a:latin typeface="Calibri"/>
                <a:ea typeface="Calibri"/>
                <a:cs typeface="Calibri"/>
                <a:sym typeface="Calibri"/>
              </a:rPr>
              <a:t>Proyecto</a:t>
            </a:r>
            <a:endParaRPr/>
          </a:p>
        </p:txBody>
      </p:sp>
      <p:sp>
        <p:nvSpPr>
          <p:cNvPr id="212" name="Google Shape;212;p3"/>
          <p:cNvSpPr txBox="1"/>
          <p:nvPr/>
        </p:nvSpPr>
        <p:spPr>
          <a:xfrm>
            <a:off x="4030475" y="7036175"/>
            <a:ext cx="31239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Arial"/>
              <a:buNone/>
            </a:pPr>
            <a:r>
              <a:rPr b="1" lang="es-CL" sz="2950">
                <a:solidFill>
                  <a:schemeClr val="dk1"/>
                </a:solidFill>
              </a:rPr>
              <a:t>Rodrigo Cubillos</a:t>
            </a:r>
            <a:endParaRPr b="0" i="0" sz="2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5134327" y="7716798"/>
            <a:ext cx="770636" cy="64246"/>
          </a:xfrm>
          <a:custGeom>
            <a:rect b="b" l="l" r="r" t="t"/>
            <a:pathLst>
              <a:path extrusionOk="0" h="60325" w="751840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80"/>
                </a:lnTo>
                <a:lnTo>
                  <a:pt x="0" y="60109"/>
                </a:lnTo>
                <a:lnTo>
                  <a:pt x="751281" y="60109"/>
                </a:lnTo>
                <a:lnTo>
                  <a:pt x="751281" y="36080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"/>
          <p:cNvSpPr txBox="1"/>
          <p:nvPr/>
        </p:nvSpPr>
        <p:spPr>
          <a:xfrm>
            <a:off x="8851274" y="7072575"/>
            <a:ext cx="21870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950">
                <a:solidFill>
                  <a:schemeClr val="dk1"/>
                </a:solidFill>
              </a:rPr>
              <a:t>Diego Parra</a:t>
            </a:r>
            <a:endParaRPr b="0" i="0" sz="2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9579078" y="7773279"/>
            <a:ext cx="770636" cy="64246"/>
          </a:xfrm>
          <a:custGeom>
            <a:rect b="b" l="l" r="r" t="t"/>
            <a:pathLst>
              <a:path extrusionOk="0" h="60325" w="751840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80"/>
                </a:lnTo>
                <a:lnTo>
                  <a:pt x="0" y="60109"/>
                </a:lnTo>
                <a:lnTo>
                  <a:pt x="751281" y="60109"/>
                </a:lnTo>
                <a:lnTo>
                  <a:pt x="751281" y="36080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"/>
          <p:cNvSpPr txBox="1"/>
          <p:nvPr/>
        </p:nvSpPr>
        <p:spPr>
          <a:xfrm>
            <a:off x="13189623" y="7036175"/>
            <a:ext cx="24432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950">
                <a:solidFill>
                  <a:schemeClr val="dk1"/>
                </a:solidFill>
              </a:rPr>
              <a:t>Adan Berrios</a:t>
            </a:r>
            <a:endParaRPr b="0" i="0" sz="2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14023816" y="7716811"/>
            <a:ext cx="770636" cy="64246"/>
          </a:xfrm>
          <a:custGeom>
            <a:rect b="b" l="l" r="r" t="t"/>
            <a:pathLst>
              <a:path extrusionOk="0" h="60325" w="751840">
                <a:moveTo>
                  <a:pt x="751281" y="0"/>
                </a:moveTo>
                <a:lnTo>
                  <a:pt x="0" y="0"/>
                </a:lnTo>
                <a:lnTo>
                  <a:pt x="0" y="23914"/>
                </a:lnTo>
                <a:lnTo>
                  <a:pt x="0" y="36080"/>
                </a:lnTo>
                <a:lnTo>
                  <a:pt x="0" y="60109"/>
                </a:lnTo>
                <a:lnTo>
                  <a:pt x="751281" y="60109"/>
                </a:lnTo>
                <a:lnTo>
                  <a:pt x="751281" y="36080"/>
                </a:lnTo>
                <a:lnTo>
                  <a:pt x="751281" y="23914"/>
                </a:lnTo>
                <a:lnTo>
                  <a:pt x="751281" y="0"/>
                </a:lnTo>
                <a:close/>
              </a:path>
            </a:pathLst>
          </a:custGeom>
          <a:solidFill>
            <a:srgbClr val="FEB62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12610179" y="2751050"/>
            <a:ext cx="3602100" cy="4072800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3891825" y="2751050"/>
            <a:ext cx="3602100" cy="4072800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8143716" y="2767375"/>
            <a:ext cx="3602100" cy="4072800"/>
          </a:xfrm>
          <a:prstGeom prst="roundRect">
            <a:avLst>
              <a:gd fmla="val 10000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0638" y="3005027"/>
            <a:ext cx="2993026" cy="3597499"/>
          </a:xfrm>
          <a:prstGeom prst="rect">
            <a:avLst/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</p:pic>
      <p:pic>
        <p:nvPicPr>
          <p:cNvPr id="222" name="Google Shape;22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40135" y="2988700"/>
            <a:ext cx="3220515" cy="359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31550" y="2983288"/>
            <a:ext cx="2522650" cy="369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7320215e8_1_66"/>
          <p:cNvSpPr txBox="1"/>
          <p:nvPr/>
        </p:nvSpPr>
        <p:spPr>
          <a:xfrm>
            <a:off x="0" y="778600"/>
            <a:ext cx="4928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Descripción del origen de la problemática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17320215e8_1_66"/>
          <p:cNvSpPr/>
          <p:nvPr/>
        </p:nvSpPr>
        <p:spPr>
          <a:xfrm>
            <a:off x="3654100" y="2514125"/>
            <a:ext cx="12795900" cy="628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s-CL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proceso de ingreso de vehículos a los talleres de PepsiCo se gestiona actualmente de manera manual, utilizando hojas de cálculo y comunicación informal por WhatsApp.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64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534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7320215e8_1_60"/>
          <p:cNvSpPr txBox="1"/>
          <p:nvPr>
            <p:ph idx="2" type="body"/>
          </p:nvPr>
        </p:nvSpPr>
        <p:spPr>
          <a:xfrm>
            <a:off x="4478075" y="2896263"/>
            <a:ext cx="434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17320215e8_1_60"/>
          <p:cNvSpPr txBox="1"/>
          <p:nvPr/>
        </p:nvSpPr>
        <p:spPr>
          <a:xfrm>
            <a:off x="0" y="833525"/>
            <a:ext cx="4922100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Descripción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Proyecto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17320215e8_1_60"/>
          <p:cNvSpPr/>
          <p:nvPr/>
        </p:nvSpPr>
        <p:spPr>
          <a:xfrm>
            <a:off x="1014918" y="2702746"/>
            <a:ext cx="7928400" cy="6760200"/>
          </a:xfrm>
          <a:prstGeom prst="roundRect">
            <a:avLst>
              <a:gd fmla="val 10901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CL" sz="30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1" sz="3000" u="sng"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s-CL" sz="2500">
                <a:latin typeface="Calibri"/>
                <a:ea typeface="Calibri"/>
                <a:cs typeface="Calibri"/>
                <a:sym typeface="Calibri"/>
              </a:rPr>
              <a:t> Retrasos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s-CL" sz="2500">
                <a:latin typeface="Calibri"/>
                <a:ea typeface="Calibri"/>
                <a:cs typeface="Calibri"/>
                <a:sym typeface="Calibri"/>
              </a:rPr>
              <a:t>Baja eficiencia operativa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s-CL" sz="2500">
                <a:latin typeface="Calibri"/>
                <a:ea typeface="Calibri"/>
                <a:cs typeface="Calibri"/>
                <a:sym typeface="Calibri"/>
              </a:rPr>
              <a:t> Ausencia de métricas confiables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17320215e8_1_60"/>
          <p:cNvSpPr/>
          <p:nvPr/>
        </p:nvSpPr>
        <p:spPr>
          <a:xfrm>
            <a:off x="10937297" y="2710333"/>
            <a:ext cx="8151900" cy="6760200"/>
          </a:xfrm>
          <a:prstGeom prst="roundRect">
            <a:avLst>
              <a:gd fmla="val 10901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CL" sz="30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Propuesta Solución</a:t>
            </a:r>
            <a:endParaRPr b="1" i="0" sz="30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  <a:extLst>
                <a:ext uri="http://customooxmlschemas.google.com/">
                  <go:slidesCustomData xmlns:go="http://customooxmlschemas.google.com/" textRoundtripDataId="1"/>
                </a:ext>
              </a:extLst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2500">
                <a:solidFill>
                  <a:schemeClr val="dk1"/>
                </a:solidFill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Desarrollar una plataforma tecnológica centralizada que digitalice y automatice todo el proceso de ingreso de vehículos al taller. Esta solución integra en un solo sistema la programación de ingresos, el registro de estados y pausas, la carga de documentos y fotografías, las notificaciones automáticas y los reportes de gestión.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17320215e8_1_60"/>
          <p:cNvSpPr/>
          <p:nvPr/>
        </p:nvSpPr>
        <p:spPr>
          <a:xfrm>
            <a:off x="9432803" y="5156046"/>
            <a:ext cx="1140600" cy="7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472C4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17320215e8_1_76"/>
          <p:cNvSpPr txBox="1"/>
          <p:nvPr/>
        </p:nvSpPr>
        <p:spPr>
          <a:xfrm>
            <a:off x="1355525" y="1647075"/>
            <a:ext cx="1687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17320215e8_1_76"/>
          <p:cNvSpPr txBox="1"/>
          <p:nvPr/>
        </p:nvSpPr>
        <p:spPr>
          <a:xfrm>
            <a:off x="1355526" y="5894821"/>
            <a:ext cx="1687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17320215e8_1_76"/>
          <p:cNvSpPr/>
          <p:nvPr/>
        </p:nvSpPr>
        <p:spPr>
          <a:xfrm>
            <a:off x="2205959" y="2742341"/>
            <a:ext cx="15171900" cy="26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500">
                <a:solidFill>
                  <a:schemeClr val="dk1"/>
                </a:solidFill>
              </a:rPr>
              <a:t>Desarrollar una plataforma tecnológica web que gestione de manera eficiente y centralizada el ingreso de vehículos al taller de PepsiCo Chile.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249" name="Google Shape;249;g317320215e8_1_76"/>
          <p:cNvSpPr/>
          <p:nvPr/>
        </p:nvSpPr>
        <p:spPr>
          <a:xfrm>
            <a:off x="2205875" y="6541325"/>
            <a:ext cx="15171900" cy="308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s-CL" sz="2500">
                <a:solidFill>
                  <a:schemeClr val="dk1"/>
                </a:solidFill>
              </a:rPr>
              <a:t>Implementar un sistema de agenda para programación y control de ingresos de vehículos.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s-CL" sz="2500">
                <a:solidFill>
                  <a:schemeClr val="dk1"/>
                </a:solidFill>
              </a:rPr>
              <a:t>Desarrollar perfiles diferenciados de usuario con permisos específicos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s-CL" sz="2500">
                <a:solidFill>
                  <a:schemeClr val="dk1"/>
                </a:solidFill>
              </a:rPr>
              <a:t>Crear módulo de gestión en tiempo real de estados y pausas del proceso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s-CL" sz="2500">
                <a:solidFill>
                  <a:schemeClr val="dk1"/>
                </a:solidFill>
              </a:rPr>
              <a:t>Integrar sistema de documentación y subida de archivos multimedia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s-CL" sz="2500">
                <a:solidFill>
                  <a:schemeClr val="dk1"/>
                </a:solidFill>
              </a:rPr>
              <a:t>Generar reportes automáticos para análisis de tiempos y productividad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s-CL" sz="2500">
                <a:solidFill>
                  <a:schemeClr val="dk1"/>
                </a:solidFill>
              </a:rPr>
              <a:t>Implementar sistema de notificaciones automáticas entre usuarios</a:t>
            </a:r>
            <a:endParaRPr b="1" sz="2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17320215e8_1_76"/>
          <p:cNvSpPr txBox="1"/>
          <p:nvPr>
            <p:ph idx="1" type="body"/>
          </p:nvPr>
        </p:nvSpPr>
        <p:spPr>
          <a:xfrm>
            <a:off x="0" y="1092975"/>
            <a:ext cx="494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600"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"/>
          <p:cNvSpPr txBox="1"/>
          <p:nvPr/>
        </p:nvSpPr>
        <p:spPr>
          <a:xfrm>
            <a:off x="1355525" y="1647075"/>
            <a:ext cx="1687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"/>
          <p:cNvSpPr txBox="1"/>
          <p:nvPr/>
        </p:nvSpPr>
        <p:spPr>
          <a:xfrm>
            <a:off x="1355526" y="5894821"/>
            <a:ext cx="1687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b="1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"/>
          <p:cNvSpPr/>
          <p:nvPr/>
        </p:nvSpPr>
        <p:spPr>
          <a:xfrm>
            <a:off x="2205959" y="2742341"/>
            <a:ext cx="15171900" cy="26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000">
                <a:latin typeface="Calibri"/>
                <a:ea typeface="Calibri"/>
                <a:cs typeface="Calibri"/>
                <a:sym typeface="Calibri"/>
              </a:rPr>
              <a:t>El desarrollo de una plataforma web que digitalice y centralice el proceso de ingreso de vehículos a los talleres de PepsiCo.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s-CL" sz="2000">
                <a:latin typeface="Calibri"/>
                <a:ea typeface="Calibri"/>
                <a:cs typeface="Calibri"/>
                <a:sym typeface="Calibri"/>
              </a:rPr>
              <a:t>Registro y programación de ingresos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s-CL" sz="2000">
                <a:latin typeface="Calibri"/>
                <a:ea typeface="Calibri"/>
                <a:cs typeface="Calibri"/>
                <a:sym typeface="Calibri"/>
              </a:rPr>
              <a:t>Gestión de estados y pausas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s-CL" sz="2000">
                <a:latin typeface="Calibri"/>
                <a:ea typeface="Calibri"/>
                <a:cs typeface="Calibri"/>
                <a:sym typeface="Calibri"/>
              </a:rPr>
              <a:t>Perfiles de usuario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s-CL" sz="2000">
                <a:latin typeface="Calibri"/>
                <a:ea typeface="Calibri"/>
                <a:cs typeface="Calibri"/>
                <a:sym typeface="Calibri"/>
              </a:rPr>
              <a:t>Subida de documentos y fotos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s-CL" sz="2000">
                <a:latin typeface="Calibri"/>
                <a:ea typeface="Calibri"/>
                <a:cs typeface="Calibri"/>
                <a:sym typeface="Calibri"/>
              </a:rPr>
              <a:t>Notificaciones automáticas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s-CL" sz="2000">
                <a:latin typeface="Calibri"/>
                <a:ea typeface="Calibri"/>
                <a:cs typeface="Calibri"/>
                <a:sym typeface="Calibri"/>
              </a:rPr>
              <a:t>Reportes automáticos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s-CL" sz="2000">
                <a:latin typeface="Calibri"/>
                <a:ea typeface="Calibri"/>
                <a:cs typeface="Calibri"/>
                <a:sym typeface="Calibri"/>
              </a:rPr>
              <a:t>Repositorio centralizado para cada vehículo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"/>
          <p:cNvSpPr/>
          <p:nvPr/>
        </p:nvSpPr>
        <p:spPr>
          <a:xfrm>
            <a:off x="2205875" y="6850673"/>
            <a:ext cx="15171900" cy="297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Nivel variable de alfabetización digital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Dependencia de conexión a internet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Calibri"/>
              <a:buChar char="●"/>
            </a:pPr>
            <a:r>
              <a:rPr lang="es-CL" sz="2200">
                <a:latin typeface="Calibri"/>
                <a:ea typeface="Calibri"/>
                <a:cs typeface="Calibri"/>
                <a:sym typeface="Calibri"/>
              </a:rPr>
              <a:t>Documentación actual dispersa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"/>
          <p:cNvSpPr txBox="1"/>
          <p:nvPr>
            <p:ph idx="1" type="body"/>
          </p:nvPr>
        </p:nvSpPr>
        <p:spPr>
          <a:xfrm>
            <a:off x="0" y="1092975"/>
            <a:ext cx="494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3600">
                <a:latin typeface="Calibri"/>
                <a:ea typeface="Calibri"/>
                <a:cs typeface="Calibri"/>
                <a:sym typeface="Calibri"/>
              </a:rPr>
              <a:t>Alcance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"/>
          <p:cNvSpPr txBox="1"/>
          <p:nvPr>
            <p:ph idx="1" type="body"/>
          </p:nvPr>
        </p:nvSpPr>
        <p:spPr>
          <a:xfrm>
            <a:off x="0" y="1112350"/>
            <a:ext cx="492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Asignación de roles</a:t>
            </a:r>
            <a:endParaRPr sz="3600"/>
          </a:p>
        </p:txBody>
      </p:sp>
      <p:sp>
        <p:nvSpPr>
          <p:cNvPr id="266" name="Google Shape;266;p6"/>
          <p:cNvSpPr/>
          <p:nvPr/>
        </p:nvSpPr>
        <p:spPr>
          <a:xfrm>
            <a:off x="902575" y="3072425"/>
            <a:ext cx="5625000" cy="51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7239550" y="3072425"/>
            <a:ext cx="5625000" cy="51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13576525" y="3072426"/>
            <a:ext cx="5625000" cy="516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1503675" y="2123975"/>
            <a:ext cx="40503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QA/TESTER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8283550" y="2417375"/>
            <a:ext cx="353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LÍDER</a:t>
            </a: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TÉCNICO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14217300" y="2316425"/>
            <a:ext cx="44781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latin typeface="Calibri"/>
                <a:ea typeface="Calibri"/>
                <a:cs typeface="Calibri"/>
                <a:sym typeface="Calibri"/>
              </a:rPr>
              <a:t>GERENTE DE PROYECTO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4504" y="3265724"/>
            <a:ext cx="3975088" cy="4777901"/>
          </a:xfrm>
          <a:prstGeom prst="rect">
            <a:avLst/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</p:pic>
      <p:pic>
        <p:nvPicPr>
          <p:cNvPr id="273" name="Google Shape;27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96497" y="3317213"/>
            <a:ext cx="4185050" cy="46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5">
            <a:alphaModFix/>
          </a:blip>
          <a:srcRect b="0" l="-32908" r="0" t="-9469"/>
          <a:stretch/>
        </p:blipFill>
        <p:spPr>
          <a:xfrm>
            <a:off x="902575" y="2601537"/>
            <a:ext cx="4405650" cy="531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 txBox="1"/>
          <p:nvPr>
            <p:ph idx="1" type="body"/>
          </p:nvPr>
        </p:nvSpPr>
        <p:spPr>
          <a:xfrm>
            <a:off x="0" y="1152425"/>
            <a:ext cx="492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Metodología </a:t>
            </a:r>
            <a:endParaRPr sz="3600"/>
          </a:p>
        </p:txBody>
      </p:sp>
      <p:sp>
        <p:nvSpPr>
          <p:cNvPr id="280" name="Google Shape;280;p9"/>
          <p:cNvSpPr/>
          <p:nvPr/>
        </p:nvSpPr>
        <p:spPr>
          <a:xfrm>
            <a:off x="3037750" y="2474675"/>
            <a:ext cx="14028600" cy="636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500">
                <a:solidFill>
                  <a:schemeClr val="dk1"/>
                </a:solidFill>
              </a:rPr>
              <a:t>La </a:t>
            </a:r>
            <a:r>
              <a:rPr lang="es-CL" sz="2500">
                <a:solidFill>
                  <a:schemeClr val="dk1"/>
                </a:solidFill>
              </a:rPr>
              <a:t>metodología</a:t>
            </a:r>
            <a:r>
              <a:rPr lang="es-CL" sz="2500">
                <a:solidFill>
                  <a:schemeClr val="dk1"/>
                </a:solidFill>
              </a:rPr>
              <a:t> la cual nosotros ocupamos fue metodologia tradicional </a:t>
            </a:r>
            <a:r>
              <a:rPr lang="es-CL" sz="2500">
                <a:solidFill>
                  <a:schemeClr val="dk1"/>
                </a:solidFill>
              </a:rPr>
              <a:t>método</a:t>
            </a:r>
            <a:r>
              <a:rPr lang="es-CL" sz="2500">
                <a:solidFill>
                  <a:schemeClr val="dk1"/>
                </a:solidFill>
              </a:rPr>
              <a:t> cascada.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s-CL" sz="2500">
                <a:solidFill>
                  <a:schemeClr val="dk1"/>
                </a:solidFill>
              </a:rPr>
              <a:t>El alcance estaba bien claro y definido.</a:t>
            </a:r>
            <a:br>
              <a:rPr lang="es-CL" sz="2500">
                <a:solidFill>
                  <a:schemeClr val="dk1"/>
                </a:solidFill>
              </a:rPr>
            </a:b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s-CL" sz="2500">
                <a:solidFill>
                  <a:schemeClr val="dk1"/>
                </a:solidFill>
              </a:rPr>
              <a:t>El proceso actual es secuencial y claro.</a:t>
            </a:r>
            <a:br>
              <a:rPr lang="es-CL" sz="2500">
                <a:solidFill>
                  <a:schemeClr val="dk1"/>
                </a:solidFill>
              </a:rPr>
            </a:b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s-CL" sz="2500">
                <a:solidFill>
                  <a:schemeClr val="dk1"/>
                </a:solidFill>
              </a:rPr>
              <a:t>Los usuarios y roles están identificados.</a:t>
            </a:r>
            <a:br>
              <a:rPr lang="es-CL" sz="2500">
                <a:solidFill>
                  <a:schemeClr val="dk1"/>
                </a:solidFill>
              </a:rPr>
            </a:b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s-CL" sz="2500">
                <a:solidFill>
                  <a:schemeClr val="dk1"/>
                </a:solidFill>
              </a:rPr>
              <a:t>Se espera una versión funcional en 12 semanas.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17320215e8_1_117"/>
          <p:cNvSpPr txBox="1"/>
          <p:nvPr>
            <p:ph idx="1" type="body"/>
          </p:nvPr>
        </p:nvSpPr>
        <p:spPr>
          <a:xfrm>
            <a:off x="381265" y="850186"/>
            <a:ext cx="4343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Etapas principales de implementación</a:t>
            </a:r>
            <a:endParaRPr sz="3600"/>
          </a:p>
        </p:txBody>
      </p:sp>
      <p:pic>
        <p:nvPicPr>
          <p:cNvPr id="287" name="Google Shape;287;g317320215e8_1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5338" y="2413552"/>
            <a:ext cx="11693425" cy="132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317320215e8_1_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0997" y="4204938"/>
            <a:ext cx="4537790" cy="162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17320215e8_1_1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75350" y="6303995"/>
            <a:ext cx="2753400" cy="162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17320215e8_1_1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50750" y="8432529"/>
            <a:ext cx="5402602" cy="13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"/>
          <p:cNvSpPr txBox="1"/>
          <p:nvPr>
            <p:ph idx="1" type="body"/>
          </p:nvPr>
        </p:nvSpPr>
        <p:spPr>
          <a:xfrm>
            <a:off x="0" y="1152425"/>
            <a:ext cx="492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Cronograma </a:t>
            </a:r>
            <a:endParaRPr sz="3600"/>
          </a:p>
        </p:txBody>
      </p:sp>
      <p:sp>
        <p:nvSpPr>
          <p:cNvPr id="296" name="Google Shape;296;p2"/>
          <p:cNvSpPr/>
          <p:nvPr/>
        </p:nvSpPr>
        <p:spPr>
          <a:xfrm>
            <a:off x="9905100" y="4060525"/>
            <a:ext cx="7705500" cy="367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 u="sng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500" u="sng"/>
              <a:t>Primer </a:t>
            </a:r>
            <a:r>
              <a:rPr lang="es-CL" sz="2500" u="sng"/>
              <a:t>Módulo</a:t>
            </a:r>
            <a:endParaRPr sz="2500" u="sng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500"/>
              <a:t>Duración estimada</a:t>
            </a:r>
            <a:r>
              <a:rPr lang="es-CL" sz="2500"/>
              <a:t>: 2 Semanas</a:t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500"/>
              <a:t>Duración</a:t>
            </a:r>
            <a:r>
              <a:rPr lang="es-CL" sz="2500"/>
              <a:t> real: 2 Semanas</a:t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 u="sng"/>
          </a:p>
        </p:txBody>
      </p:sp>
      <p:graphicFrame>
        <p:nvGraphicFramePr>
          <p:cNvPr id="297" name="Google Shape;297;p2"/>
          <p:cNvGraphicFramePr/>
          <p:nvPr/>
        </p:nvGraphicFramePr>
        <p:xfrm>
          <a:off x="1144150" y="385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{C0A40D89-82B0-417C-9D0D-7BF96E38EC5E}</a:tableStyleId>
              </a:tblPr>
              <a:tblGrid>
                <a:gridCol w="6474700"/>
              </a:tblGrid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>
                          <a:solidFill>
                            <a:schemeClr val="dk1"/>
                          </a:solidFill>
                        </a:rPr>
                        <a:t>Plataforma de </a:t>
                      </a:r>
                      <a:r>
                        <a:rPr lang="es-CL" sz="2000">
                          <a:solidFill>
                            <a:schemeClr val="dk1"/>
                          </a:solidFill>
                        </a:rPr>
                        <a:t>gestión</a:t>
                      </a:r>
                      <a:r>
                        <a:rPr lang="es-CL" sz="2000">
                          <a:solidFill>
                            <a:schemeClr val="dk1"/>
                          </a:solidFill>
                        </a:rPr>
                        <a:t> de ingreso de </a:t>
                      </a:r>
                      <a:r>
                        <a:rPr lang="es-CL" sz="2000">
                          <a:solidFill>
                            <a:schemeClr val="dk1"/>
                          </a:solidFill>
                        </a:rPr>
                        <a:t>vehículos</a:t>
                      </a:r>
                      <a:r>
                        <a:rPr lang="es-CL" sz="2000">
                          <a:solidFill>
                            <a:schemeClr val="dk1"/>
                          </a:solidFill>
                        </a:rPr>
                        <a:t> al taller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9146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Acta de </a:t>
                      </a:r>
                      <a:r>
                        <a:rPr lang="es-CL" sz="2000"/>
                        <a:t>constitución</a:t>
                      </a:r>
                      <a:endParaRPr sz="2000"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D9EAD3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EDT y diccionario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Cronograma (Carta gantt)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Matriz RACI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Matriz de riesgos inicial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Plan de pruebas inicial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b9c9e4826_0_0"/>
          <p:cNvSpPr txBox="1"/>
          <p:nvPr>
            <p:ph idx="1" type="body"/>
          </p:nvPr>
        </p:nvSpPr>
        <p:spPr>
          <a:xfrm>
            <a:off x="0" y="1152425"/>
            <a:ext cx="492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Cronograma </a:t>
            </a:r>
            <a:endParaRPr sz="3600"/>
          </a:p>
        </p:txBody>
      </p:sp>
      <p:sp>
        <p:nvSpPr>
          <p:cNvPr id="303" name="Google Shape;303;g3ab9c9e4826_0_0"/>
          <p:cNvSpPr/>
          <p:nvPr/>
        </p:nvSpPr>
        <p:spPr>
          <a:xfrm>
            <a:off x="9905100" y="4060525"/>
            <a:ext cx="7705500" cy="367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 u="sng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500" u="sng"/>
              <a:t>Segundo Módulo</a:t>
            </a:r>
            <a:endParaRPr sz="2500" u="sng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500"/>
              <a:t>Duración estimada: 2 Semanas</a:t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500"/>
              <a:t>Duración real: 3 Semanas</a:t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 u="sng"/>
          </a:p>
        </p:txBody>
      </p:sp>
      <p:graphicFrame>
        <p:nvGraphicFramePr>
          <p:cNvPr id="304" name="Google Shape;304;g3ab9c9e4826_0_0"/>
          <p:cNvGraphicFramePr/>
          <p:nvPr/>
        </p:nvGraphicFramePr>
        <p:xfrm>
          <a:off x="1295175" y="327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{C0A40D89-82B0-417C-9D0D-7BF96E38EC5E}</a:tableStyleId>
              </a:tblPr>
              <a:tblGrid>
                <a:gridCol w="6474700"/>
              </a:tblGrid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>
                          <a:solidFill>
                            <a:schemeClr val="dk1"/>
                          </a:solidFill>
                        </a:rPr>
                        <a:t>Análisis</a:t>
                      </a:r>
                      <a:r>
                        <a:rPr lang="es-CL" sz="2000">
                          <a:solidFill>
                            <a:schemeClr val="dk1"/>
                          </a:solidFill>
                        </a:rPr>
                        <a:t> y diseño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Especificación</a:t>
                      </a:r>
                      <a:r>
                        <a:rPr lang="es-CL" sz="2000"/>
                        <a:t> de requerimientos</a:t>
                      </a:r>
                      <a:endParaRPr sz="2000"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9DAF8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Diagrama de secuencias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Casos de uso </a:t>
                      </a:r>
                      <a:r>
                        <a:rPr lang="es-CL" sz="2000"/>
                        <a:t>específicos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Diagrama de arquitectura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Diagrama de componentes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Modelo de datos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Diagrama de clases 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Mockups de interfaces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b9c9e4826_0_7"/>
          <p:cNvSpPr txBox="1"/>
          <p:nvPr>
            <p:ph idx="1" type="body"/>
          </p:nvPr>
        </p:nvSpPr>
        <p:spPr>
          <a:xfrm>
            <a:off x="0" y="1152425"/>
            <a:ext cx="492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Cronograma </a:t>
            </a:r>
            <a:endParaRPr sz="3600"/>
          </a:p>
        </p:txBody>
      </p:sp>
      <p:sp>
        <p:nvSpPr>
          <p:cNvPr id="310" name="Google Shape;310;g3ab9c9e4826_0_7"/>
          <p:cNvSpPr/>
          <p:nvPr/>
        </p:nvSpPr>
        <p:spPr>
          <a:xfrm>
            <a:off x="9905100" y="4060525"/>
            <a:ext cx="7705500" cy="367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 u="sng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500" u="sng"/>
              <a:t>Tercer Módulo</a:t>
            </a:r>
            <a:endParaRPr sz="2500" u="sng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500"/>
              <a:t>Duración estimada: 5 Semanas</a:t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500"/>
              <a:t>Duración real: 4 Semanas</a:t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 u="sng"/>
          </a:p>
        </p:txBody>
      </p:sp>
      <p:graphicFrame>
        <p:nvGraphicFramePr>
          <p:cNvPr id="311" name="Google Shape;311;g3ab9c9e4826_0_7"/>
          <p:cNvGraphicFramePr/>
          <p:nvPr/>
        </p:nvGraphicFramePr>
        <p:xfrm>
          <a:off x="1446200" y="327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{C0A40D89-82B0-417C-9D0D-7BF96E38EC5E}</a:tableStyleId>
              </a:tblPr>
              <a:tblGrid>
                <a:gridCol w="6474700"/>
              </a:tblGrid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>
                          <a:solidFill>
                            <a:schemeClr val="dk1"/>
                          </a:solidFill>
                        </a:rPr>
                        <a:t>Ejecución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Base de datos</a:t>
                      </a:r>
                      <a:endParaRPr sz="2000"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CE5CD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Creación de login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Creación</a:t>
                      </a:r>
                      <a:r>
                        <a:rPr lang="es-CL" sz="2000"/>
                        <a:t> de roles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Especificación</a:t>
                      </a:r>
                      <a:r>
                        <a:rPr lang="es-CL" sz="2000"/>
                        <a:t> y requerimientos por rol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Creación</a:t>
                      </a:r>
                      <a:r>
                        <a:rPr lang="es-CL" sz="2000"/>
                        <a:t> de notificaciones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Población</a:t>
                      </a:r>
                      <a:r>
                        <a:rPr lang="es-CL" sz="2000"/>
                        <a:t> con datos de prueba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Pruebas de funcionalidad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Matriz de cambios y alcance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b9c9e4826_0_13"/>
          <p:cNvSpPr txBox="1"/>
          <p:nvPr>
            <p:ph idx="1" type="body"/>
          </p:nvPr>
        </p:nvSpPr>
        <p:spPr>
          <a:xfrm>
            <a:off x="0" y="1152425"/>
            <a:ext cx="492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Cronograma </a:t>
            </a:r>
            <a:endParaRPr sz="3600"/>
          </a:p>
        </p:txBody>
      </p:sp>
      <p:sp>
        <p:nvSpPr>
          <p:cNvPr id="317" name="Google Shape;317;g3ab9c9e4826_0_13"/>
          <p:cNvSpPr/>
          <p:nvPr/>
        </p:nvSpPr>
        <p:spPr>
          <a:xfrm>
            <a:off x="9905100" y="4060525"/>
            <a:ext cx="7705500" cy="367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 u="sng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500" u="sng"/>
              <a:t>Cuarto Módulo</a:t>
            </a:r>
            <a:endParaRPr sz="2500" u="sng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500"/>
              <a:t>Duración estimada: 3 Semanas</a:t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2500"/>
              <a:t>Duración real: 3 Semanas</a:t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500" u="sng"/>
          </a:p>
        </p:txBody>
      </p:sp>
      <p:graphicFrame>
        <p:nvGraphicFramePr>
          <p:cNvPr id="318" name="Google Shape;318;g3ab9c9e4826_0_13"/>
          <p:cNvGraphicFramePr/>
          <p:nvPr/>
        </p:nvGraphicFramePr>
        <p:xfrm>
          <a:off x="1613975" y="443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{C0A40D89-82B0-417C-9D0D-7BF96E38EC5E}</a:tableStyleId>
              </a:tblPr>
              <a:tblGrid>
                <a:gridCol w="6474700"/>
              </a:tblGrid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>
                          <a:solidFill>
                            <a:schemeClr val="dk1"/>
                          </a:solidFill>
                        </a:rPr>
                        <a:t>Implementación</a:t>
                      </a:r>
                      <a:r>
                        <a:rPr lang="es-CL" sz="2000">
                          <a:solidFill>
                            <a:schemeClr val="dk1"/>
                          </a:solidFill>
                        </a:rPr>
                        <a:t> y cierre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Plan de pruebas</a:t>
                      </a:r>
                      <a:endParaRPr sz="2000"/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Pruebas unitarias y control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Plan de soporte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58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Reporte final y cierre</a:t>
                      </a:r>
                      <a:endParaRPr sz="2000"/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"/>
          <p:cNvSpPr txBox="1"/>
          <p:nvPr>
            <p:ph idx="1" type="body"/>
          </p:nvPr>
        </p:nvSpPr>
        <p:spPr>
          <a:xfrm>
            <a:off x="1" y="831974"/>
            <a:ext cx="4882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Topología del proyecto</a:t>
            </a:r>
            <a:endParaRPr sz="3600"/>
          </a:p>
        </p:txBody>
      </p:sp>
      <p:sp>
        <p:nvSpPr>
          <p:cNvPr id="324" name="Google Shape;324;p8"/>
          <p:cNvSpPr txBox="1"/>
          <p:nvPr/>
        </p:nvSpPr>
        <p:spPr>
          <a:xfrm>
            <a:off x="5027650" y="81824"/>
            <a:ext cx="10048800" cy="26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CL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Arquitectura del software</a:t>
            </a:r>
            <a:endParaRPr b="0" i="0" sz="48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449" y="3368675"/>
            <a:ext cx="17051376" cy="63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7320215e8_1_110"/>
          <p:cNvSpPr txBox="1"/>
          <p:nvPr>
            <p:ph idx="1" type="body"/>
          </p:nvPr>
        </p:nvSpPr>
        <p:spPr>
          <a:xfrm>
            <a:off x="207525" y="827275"/>
            <a:ext cx="48459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Modelo de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Datos</a:t>
            </a:r>
            <a:endParaRPr sz="3600"/>
          </a:p>
        </p:txBody>
      </p:sp>
      <p:pic>
        <p:nvPicPr>
          <p:cNvPr id="332" name="Google Shape;332;g317320215e8_1_110" title="modelo de dat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3737" y="1567074"/>
            <a:ext cx="10236624" cy="81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"/>
          <p:cNvSpPr txBox="1"/>
          <p:nvPr>
            <p:ph idx="1" type="body"/>
          </p:nvPr>
        </p:nvSpPr>
        <p:spPr>
          <a:xfrm>
            <a:off x="1" y="831974"/>
            <a:ext cx="48828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Tecnologías del proyecto</a:t>
            </a:r>
            <a:endParaRPr sz="3600"/>
          </a:p>
        </p:txBody>
      </p:sp>
      <p:sp>
        <p:nvSpPr>
          <p:cNvPr id="338" name="Google Shape;338;p4"/>
          <p:cNvSpPr txBox="1"/>
          <p:nvPr/>
        </p:nvSpPr>
        <p:spPr>
          <a:xfrm>
            <a:off x="5027650" y="682323"/>
            <a:ext cx="10048800" cy="1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CL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Tecnologías utilizadas</a:t>
            </a:r>
            <a:endParaRPr b="0" i="0" sz="48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"/>
          <p:cNvSpPr/>
          <p:nvPr/>
        </p:nvSpPr>
        <p:spPr>
          <a:xfrm>
            <a:off x="3849409" y="2089626"/>
            <a:ext cx="12405277" cy="7774025"/>
          </a:xfrm>
          <a:custGeom>
            <a:rect b="b" l="l" r="r" t="t"/>
            <a:pathLst>
              <a:path extrusionOk="0" h="6038078" w="9433671">
                <a:moveTo>
                  <a:pt x="0" y="0"/>
                </a:moveTo>
                <a:lnTo>
                  <a:pt x="9433670" y="0"/>
                </a:lnTo>
                <a:lnTo>
                  <a:pt x="9433670" y="6038078"/>
                </a:lnTo>
                <a:lnTo>
                  <a:pt x="0" y="6038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17320215e8_1_125"/>
          <p:cNvSpPr txBox="1"/>
          <p:nvPr>
            <p:ph idx="1" type="body"/>
          </p:nvPr>
        </p:nvSpPr>
        <p:spPr>
          <a:xfrm>
            <a:off x="324565" y="872886"/>
            <a:ext cx="4343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Resultados de la solución</a:t>
            </a:r>
            <a:endParaRPr sz="3600"/>
          </a:p>
        </p:txBody>
      </p:sp>
      <p:sp>
        <p:nvSpPr>
          <p:cNvPr id="346" name="Google Shape;346;g317320215e8_1_125"/>
          <p:cNvSpPr txBox="1"/>
          <p:nvPr/>
        </p:nvSpPr>
        <p:spPr>
          <a:xfrm>
            <a:off x="4193875" y="3920675"/>
            <a:ext cx="111162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CL" sz="7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Demostración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"/>
          <p:cNvSpPr txBox="1"/>
          <p:nvPr>
            <p:ph idx="1" type="body"/>
          </p:nvPr>
        </p:nvSpPr>
        <p:spPr>
          <a:xfrm>
            <a:off x="324565" y="872886"/>
            <a:ext cx="4343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Resultados</a:t>
            </a:r>
            <a:endParaRPr sz="3600"/>
          </a:p>
        </p:txBody>
      </p:sp>
      <p:sp>
        <p:nvSpPr>
          <p:cNvPr id="353" name="Google Shape;353;p5"/>
          <p:cNvSpPr txBox="1"/>
          <p:nvPr/>
        </p:nvSpPr>
        <p:spPr>
          <a:xfrm>
            <a:off x="2187850" y="1981075"/>
            <a:ext cx="157284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/>
              <a:t>Durante el desarrollo del proyecto se obtuvo una plataforma funcional que digitaliza el ingreso de vehículos al taller, mejora la trazabilidad del proceso y reduce significativamente los tiempos de registro y coordinación entre los distintos actores.</a:t>
            </a:r>
            <a:endParaRPr sz="2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5" title="test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3925" y="3377775"/>
            <a:ext cx="13676226" cy="680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17320215e8_1_133"/>
          <p:cNvSpPr txBox="1"/>
          <p:nvPr>
            <p:ph idx="1" type="body"/>
          </p:nvPr>
        </p:nvSpPr>
        <p:spPr>
          <a:xfrm>
            <a:off x="437965" y="1167686"/>
            <a:ext cx="434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3600"/>
              <a:t>Conclusión</a:t>
            </a:r>
            <a:endParaRPr sz="3600"/>
          </a:p>
        </p:txBody>
      </p:sp>
      <p:sp>
        <p:nvSpPr>
          <p:cNvPr id="361" name="Google Shape;361;g317320215e8_1_133"/>
          <p:cNvSpPr/>
          <p:nvPr/>
        </p:nvSpPr>
        <p:spPr>
          <a:xfrm>
            <a:off x="4236250" y="3168875"/>
            <a:ext cx="11631600" cy="49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2500"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La implementación de la plataforma de gestión de ingresos de vehículos representa un avance significativo en la modernización del proceso operativo de PepsiCo, permitiendo mejorar la eficiencia, la trazabilidad y la coordinación entre los distintos actores del taller.</a:t>
            </a:r>
            <a:endParaRPr i="0" sz="25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7168525"/>
            <a:ext cx="20104101" cy="142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11"/>
          <p:cNvPicPr preferRelativeResize="0"/>
          <p:nvPr/>
        </p:nvPicPr>
        <p:blipFill rotWithShape="1">
          <a:blip r:embed="rId4">
            <a:alphaModFix/>
          </a:blip>
          <a:srcRect b="-3970" l="0" r="0" t="3970"/>
          <a:stretch/>
        </p:blipFill>
        <p:spPr>
          <a:xfrm>
            <a:off x="174800" y="-1538675"/>
            <a:ext cx="4824150" cy="48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1"/>
          <p:cNvSpPr txBox="1"/>
          <p:nvPr>
            <p:ph idx="1" type="body"/>
          </p:nvPr>
        </p:nvSpPr>
        <p:spPr>
          <a:xfrm>
            <a:off x="2526550" y="7417450"/>
            <a:ext cx="1505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000">
                <a:solidFill>
                  <a:schemeClr val="lt1"/>
                </a:solidFill>
              </a:rPr>
              <a:t>¡MUCHAS GRACIAS POR SU ATENCION!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369" name="Google Shape;369;p11"/>
          <p:cNvSpPr txBox="1"/>
          <p:nvPr>
            <p:ph idx="1" type="body"/>
          </p:nvPr>
        </p:nvSpPr>
        <p:spPr>
          <a:xfrm>
            <a:off x="2576600" y="7417438"/>
            <a:ext cx="1505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6000"/>
              <a:t>¡MUCHAS GRACIAS POR SU ATENCION!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2021-04-02T01:36:00Z</dcterms:created>
  <dc:creator>Gabriel Mendez F.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2021-03-30T00:00:00Z</vt:filetime>
  </property>
  <property fmtid="{D5CDD505-2E9C-101B-9397-08002B2CF9AE}" pid="3" name="Creator">
    <vt:lpwstr>Adobe Illustrator 25.2 (Macintosh)</vt:lpwstr>
  </property>
  <property fmtid="{D5CDD505-2E9C-101B-9397-08002B2CF9AE}" pid="4" name="LastSaved">
    <vt:filetime>2021-04-02T00:00:00Z</vt:filetime>
  </property>
</Properties>
</file>